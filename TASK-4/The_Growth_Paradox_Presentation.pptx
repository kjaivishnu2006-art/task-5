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17317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EXECUTIVE DATA BRIEFING  |  RETAIL SALES 2020–2025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The Growth Paradox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E8ECF4"/>
                </a:solidFill>
                <a:latin typeface="Calibri"/>
              </a:rPr>
              <a:t>Revenue is Strong — But Are We Building a Business
or Just Making Sales?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520440"/>
            <a:ext cx="45720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5A623"/>
                </a:solidFill>
                <a:latin typeface="Calibri"/>
              </a:rPr>
              <a:t>$6.18M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245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6B0"/>
                </a:solidFill>
                <a:latin typeface="Calibri"/>
              </a:rPr>
              <a:t>Total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74903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5A623"/>
                </a:solidFill>
                <a:latin typeface="Calibri"/>
              </a:rPr>
              <a:t>802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42245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6B0"/>
                </a:solidFill>
                <a:latin typeface="Calibri"/>
              </a:rPr>
              <a:t>Unique 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74903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5A623"/>
                </a:solidFill>
                <a:latin typeface="Calibri"/>
              </a:rPr>
              <a:t>26.05%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2245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6B0"/>
                </a:solidFill>
                <a:latin typeface="Calibri"/>
              </a:rPr>
              <a:t>Profit 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74903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5A623"/>
                </a:solidFill>
                <a:latin typeface="Calibri"/>
              </a:rPr>
              <a:t>0.62%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42245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6B0"/>
                </a:solidFill>
                <a:latin typeface="Calibri"/>
              </a:rPr>
              <a:t>Repeat Rate 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922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6B0"/>
                </a:solidFill>
                <a:latin typeface="Calibri"/>
              </a:rPr>
              <a:t>Confidential  |  Prepared by Data Analytics Team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Our Story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5895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623"/>
                </a:solidFill>
                <a:latin typeface="Calibri"/>
              </a:rPr>
              <a:t>A four-act data narrative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640080" cy="8229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8132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70E27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3716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  <a:latin typeface="Calibri"/>
              </a:rPr>
              <a:t>DATA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755648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CF4"/>
                </a:solidFill>
                <a:latin typeface="Calibri"/>
              </a:rPr>
              <a:t>How we ensured analysis-ready, trustworthy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640080" cy="8229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7004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70E27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5603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  <a:latin typeface="Calibri"/>
              </a:rPr>
              <a:t>KPI SCORECARD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44368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CF4"/>
                </a:solidFill>
                <a:latin typeface="Calibri"/>
              </a:rPr>
              <a:t>Benchmarking the 5 metrics that define our performance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49040"/>
            <a:ext cx="640080" cy="8229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85876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70E27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7490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  <a:latin typeface="Calibri"/>
              </a:rPr>
              <a:t>CUSTOMER LIFECYCLE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133088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CF4"/>
                </a:solidFill>
                <a:latin typeface="Calibri"/>
              </a:rPr>
              <a:t>Who are our customers — and where are we losing them?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937760"/>
            <a:ext cx="640080" cy="8229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04748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70E27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93776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  <a:latin typeface="Calibri"/>
              </a:rPr>
              <a:t>CALL TO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321808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CF4"/>
                </a:solidFill>
                <a:latin typeface="Calibri"/>
              </a:rPr>
              <a:t>Three concrete strategies to unlock sustainable growth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789920" y="1097280"/>
            <a:ext cx="1188720" cy="5303520"/>
          </a:xfrm>
          <a:prstGeom prst="rect">
            <a:avLst/>
          </a:prstGeom>
          <a:solidFill>
            <a:srgbClr val="15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THE QUESTION WE SET OUT TO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FFFFFF"/>
                </a:solidFill>
                <a:latin typeface="Calibri"/>
              </a:rPr>
              <a:t>"Our revenue numbers look healthy on the surface —
but are we truly growing a loyal customer base,
or are we simply cycling through one-time buyers?"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291840"/>
            <a:ext cx="667512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6B0"/>
                </a:solidFill>
                <a:latin typeface="Calibri"/>
              </a:rPr>
              <a:t>To answer this, we ran three phases of analysis: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977639"/>
            <a:ext cx="2743200" cy="1463040"/>
          </a:xfrm>
          <a:prstGeom prst="rect">
            <a:avLst/>
          </a:prstGeom>
          <a:solidFill>
            <a:srgbClr val="152A5A"/>
          </a:solidFill>
          <a:ln w="762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0690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52628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Phase 1
Data Wrangling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3977639"/>
            <a:ext cx="2743200" cy="1463040"/>
          </a:xfrm>
          <a:prstGeom prst="rect">
            <a:avLst/>
          </a:prstGeom>
          <a:solidFill>
            <a:srgbClr val="152A5A"/>
          </a:solidFill>
          <a:ln w="762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40690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452628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Phase 2
KPI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3977639"/>
            <a:ext cx="2743200" cy="1463040"/>
          </a:xfrm>
          <a:prstGeom prst="rect">
            <a:avLst/>
          </a:prstGeom>
          <a:solidFill>
            <a:srgbClr val="152A5A"/>
          </a:solidFill>
          <a:ln w="762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40690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52628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Phase 3
Lifecycle Deep-Dive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6B0"/>
                </a:solidFill>
                <a:latin typeface="Calibri"/>
              </a:rPr>
              <a:t>Dataset: 1,194 transactions | 802 customers | 2020–2025 | Electronics · Furniture · Office Supplies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Phase 1 — Data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5895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623"/>
                </a:solidFill>
                <a:latin typeface="Calibri"/>
              </a:rPr>
              <a:t>Building trustworthy data before building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WHAT WE CLEANED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669280" cy="685800"/>
          </a:xfrm>
          <a:prstGeom prst="rect">
            <a:avLst/>
          </a:prstGeom>
          <a:solidFill>
            <a:srgbClr val="15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27632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ECC71"/>
                </a:solidFill>
                <a:latin typeface="Calibri"/>
              </a:rP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910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Removed 2 duplicate rows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019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6B0"/>
                </a:solidFill>
                <a:latin typeface="Calibri"/>
              </a:rPr>
              <a:t>No double-counted revenue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59152"/>
            <a:ext cx="5669280" cy="685800"/>
          </a:xfrm>
          <a:prstGeom prst="rect">
            <a:avLst/>
          </a:prstGeom>
          <a:solidFill>
            <a:srgbClr val="15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32304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ECC71"/>
                </a:solidFill>
                <a:latin typeface="Calibri"/>
              </a:rP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957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Standardized Order Date to datetime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7066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6B0"/>
                </a:solidFill>
                <a:latin typeface="Calibri"/>
              </a:rPr>
              <a:t>Time-series analysis unlocked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63824"/>
            <a:ext cx="5669280" cy="685800"/>
          </a:xfrm>
          <a:prstGeom prst="rect">
            <a:avLst/>
          </a:prstGeom>
          <a:solidFill>
            <a:srgbClr val="15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36976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ECC71"/>
                </a:solidFill>
                <a:latin typeface="Calibri"/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200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Stripped whitespace from text fields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51129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6B0"/>
                </a:solidFill>
                <a:latin typeface="Calibri"/>
              </a:rPr>
              <a:t>Reliable grouping &amp; filtering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68496"/>
            <a:ext cx="5669280" cy="685800"/>
          </a:xfrm>
          <a:prstGeom prst="rect">
            <a:avLst/>
          </a:prstGeom>
          <a:solidFill>
            <a:srgbClr val="15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041648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ECC71"/>
                </a:solidFill>
                <a:latin typeface="Calibri"/>
              </a:rP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0050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Normalized customer names (Title Case)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3159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6B0"/>
                </a:solidFill>
                <a:latin typeface="Calibri"/>
              </a:rPr>
              <a:t>Accurate customer identity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773168"/>
            <a:ext cx="5669280" cy="685800"/>
          </a:xfrm>
          <a:prstGeom prst="rect">
            <a:avLst/>
          </a:prstGeom>
          <a:solidFill>
            <a:srgbClr val="15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84632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ECC71"/>
                </a:solidFill>
                <a:latin typeface="Calibri"/>
              </a:rPr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8097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Validated Amount, Profit, Quantity &gt;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120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6B0"/>
                </a:solidFill>
                <a:latin typeface="Calibri"/>
              </a:rPr>
              <a:t>Trustworthy financial KPIs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1143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THE OUTCOME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1554480"/>
            <a:ext cx="5120640" cy="960120"/>
          </a:xfrm>
          <a:prstGeom prst="rect">
            <a:avLst/>
          </a:prstGeom>
          <a:solidFill>
            <a:srgbClr val="152A5A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162763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A623"/>
                </a:solidFill>
                <a:latin typeface="Calibri"/>
              </a:rPr>
              <a:t>1,194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212140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6B0"/>
                </a:solidFill>
                <a:latin typeface="Calibri"/>
              </a:rPr>
              <a:t>Clean Records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3895344"/>
            <a:ext cx="5120640" cy="960120"/>
          </a:xfrm>
          <a:prstGeom prst="rect">
            <a:avLst/>
          </a:prstGeom>
          <a:solidFill>
            <a:srgbClr val="152A5A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968496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A623"/>
                </a:solidFill>
                <a:latin typeface="Calibri"/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46227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6B0"/>
                </a:solidFill>
                <a:latin typeface="Calibri"/>
              </a:rPr>
              <a:t>Missing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1554480"/>
            <a:ext cx="2560320" cy="914400"/>
          </a:xfrm>
          <a:prstGeom prst="rect">
            <a:avLst/>
          </a:prstGeom>
          <a:solidFill>
            <a:srgbClr val="152A5A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162763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5A623"/>
                </a:solidFill>
                <a:latin typeface="Calibri"/>
              </a:rPr>
              <a:t>1,194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2103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6B0"/>
                </a:solidFill>
                <a:latin typeface="Calibri"/>
              </a:rPr>
              <a:t>Clean Records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26880" y="1554480"/>
            <a:ext cx="2560320" cy="914400"/>
          </a:xfrm>
          <a:prstGeom prst="rect">
            <a:avLst/>
          </a:prstGeom>
          <a:solidFill>
            <a:srgbClr val="152A5A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0" y="162763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5A623"/>
                </a:solidFill>
                <a:latin typeface="Calibri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2103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6B0"/>
                </a:solidFill>
                <a:latin typeface="Calibri"/>
              </a:rPr>
              <a:t>Validated Columns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0" y="2651760"/>
            <a:ext cx="2560320" cy="914400"/>
          </a:xfrm>
          <a:prstGeom prst="rect">
            <a:avLst/>
          </a:prstGeom>
          <a:solidFill>
            <a:srgbClr val="152A5A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272491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5A623"/>
                </a:solidFill>
                <a:latin typeface="Calibri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3200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6B0"/>
                </a:solidFill>
                <a:latin typeface="Calibri"/>
              </a:rPr>
              <a:t>Missing Values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26880" y="2651760"/>
            <a:ext cx="2560320" cy="914400"/>
          </a:xfrm>
          <a:prstGeom prst="rect">
            <a:avLst/>
          </a:prstGeom>
          <a:solidFill>
            <a:srgbClr val="152A5A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0" y="272491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5A623"/>
                </a:solidFill>
                <a:latin typeface="Calibri"/>
              </a:rPr>
              <a:t>100%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3200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6B0"/>
                </a:solidFill>
                <a:latin typeface="Calibri"/>
              </a:rPr>
              <a:t>Data Type Accuracy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3749039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ECF4"/>
                </a:solidFill>
                <a:latin typeface="Calibri"/>
              </a:rPr>
              <a:t>⚠  Data quality is not a technical formality — it is a business risk control.
    Without this step, every KPI and customer segment below would be unreliable.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Phase 2 — KPI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5895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623"/>
                </a:solidFill>
                <a:latin typeface="Calibri"/>
              </a:rPr>
              <a:t>547 orders · 802 customers · $6.18M revenue · 2020–2025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2194560" cy="3474720"/>
          </a:xfrm>
          <a:prstGeom prst="rect">
            <a:avLst/>
          </a:prstGeom>
          <a:solidFill>
            <a:srgbClr val="152A5A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4416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6B0"/>
                </a:solidFill>
                <a:latin typeface="Calibri"/>
              </a:rPr>
              <a:t>Average Order Value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828800"/>
            <a:ext cx="201168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92024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$11,302.81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606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CC71"/>
                </a:solidFill>
                <a:latin typeface="Calibri"/>
              </a:rPr>
              <a:t>✅ STRONG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971800"/>
            <a:ext cx="2011680" cy="27432"/>
          </a:xfrm>
          <a:prstGeom prst="rect">
            <a:avLst/>
          </a:prstGeom>
          <a:solidFill>
            <a:srgbClr val="15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306324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A96B0"/>
                </a:solidFill>
                <a:latin typeface="Calibri"/>
              </a:rPr>
              <a:t>Higher AOV = more revenue
per transaction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9192" y="1234440"/>
            <a:ext cx="2194560" cy="3474720"/>
          </a:xfrm>
          <a:prstGeom prst="rect">
            <a:avLst/>
          </a:prstGeom>
          <a:solidFill>
            <a:srgbClr val="152A5A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70632" y="134416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6B0"/>
                </a:solidFill>
                <a:latin typeface="Calibri"/>
              </a:rPr>
              <a:t>Profit Margin 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70632" y="1828800"/>
            <a:ext cx="201168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0632" y="192024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26.05%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0632" y="2606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CC71"/>
                </a:solidFill>
                <a:latin typeface="Calibri"/>
              </a:rPr>
              <a:t>✅ HEALTHY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70632" y="2971800"/>
            <a:ext cx="2011680" cy="27432"/>
          </a:xfrm>
          <a:prstGeom prst="rect">
            <a:avLst/>
          </a:prstGeom>
          <a:solidFill>
            <a:srgbClr val="15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70632" y="306324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A96B0"/>
                </a:solidFill>
                <a:latin typeface="Calibri"/>
              </a:rPr>
              <a:t>Benchmark: &gt; 20%
We're well above target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38344" y="1234440"/>
            <a:ext cx="2194560" cy="3474720"/>
          </a:xfrm>
          <a:prstGeom prst="rect">
            <a:avLst/>
          </a:prstGeom>
          <a:solidFill>
            <a:srgbClr val="152A5A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9784" y="134416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6B0"/>
                </a:solidFill>
                <a:latin typeface="Calibri"/>
              </a:rPr>
              <a:t>Units Per Transaction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9784" y="1828800"/>
            <a:ext cx="201168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9784" y="192024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23.30 units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606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CC71"/>
                </a:solidFill>
                <a:latin typeface="Calibri"/>
              </a:rPr>
              <a:t>✅ HIGH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29784" y="2971800"/>
            <a:ext cx="2011680" cy="27432"/>
          </a:xfrm>
          <a:prstGeom prst="rect">
            <a:avLst/>
          </a:prstGeom>
          <a:solidFill>
            <a:srgbClr val="15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9784" y="306324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A96B0"/>
                </a:solidFill>
                <a:latin typeface="Calibri"/>
              </a:rPr>
              <a:t>Customers buy in bulk
when they engage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97496" y="1234440"/>
            <a:ext cx="2194560" cy="3474720"/>
          </a:xfrm>
          <a:prstGeom prst="rect">
            <a:avLst/>
          </a:prstGeom>
          <a:solidFill>
            <a:srgbClr val="152A5A"/>
          </a:solidFill>
          <a:ln w="1524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88936" y="134416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6B0"/>
                </a:solidFill>
                <a:latin typeface="Calibri"/>
              </a:rPr>
              <a:t>Avg Revenue / Customer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88936" y="1828800"/>
            <a:ext cx="201168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88936" y="192024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$7,709.03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88936" y="2606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39C12"/>
                </a:solidFill>
                <a:latin typeface="Calibri"/>
              </a:rPr>
              <a:t>🔍 MONITOR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88936" y="2971800"/>
            <a:ext cx="2011680" cy="27432"/>
          </a:xfrm>
          <a:prstGeom prst="rect">
            <a:avLst/>
          </a:prstGeom>
          <a:solidFill>
            <a:srgbClr val="15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88936" y="306324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A96B0"/>
                </a:solidFill>
                <a:latin typeface="Calibri"/>
              </a:rPr>
              <a:t>CLV proxy — tracks
customer lifetime spend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56648" y="1234440"/>
            <a:ext cx="2194560" cy="3474720"/>
          </a:xfrm>
          <a:prstGeom prst="rect">
            <a:avLst/>
          </a:prstGeom>
          <a:solidFill>
            <a:srgbClr val="152A5A"/>
          </a:solidFill>
          <a:ln w="1524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48088" y="134416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6B0"/>
                </a:solidFill>
                <a:latin typeface="Calibri"/>
              </a:rPr>
              <a:t>Repeat Customer Rate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48088" y="1828800"/>
            <a:ext cx="201168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48088" y="192024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0.62%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48088" y="2606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  <a:latin typeface="Calibri"/>
              </a:rPr>
              <a:t>🔴 CRITICAL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48088" y="2971800"/>
            <a:ext cx="2011680" cy="27432"/>
          </a:xfrm>
          <a:prstGeom prst="rect">
            <a:avLst/>
          </a:prstGeom>
          <a:solidFill>
            <a:srgbClr val="15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48088" y="306324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A96B0"/>
                </a:solidFill>
                <a:latin typeface="Calibri"/>
              </a:rPr>
              <a:t>Benchmark: &gt; 30%
We are at &lt; 1%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919472"/>
            <a:ext cx="11521440" cy="804672"/>
          </a:xfrm>
          <a:prstGeom prst="rect">
            <a:avLst/>
          </a:prstGeom>
          <a:solidFill>
            <a:srgbClr val="070E27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0292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⚠  KEY INSIGHT:  KPIs 1–4 are excellent. KPI 5 — Repeat Customer Rate at 0.62% vs. 30%+ industry norm — reveals a broken retention engine hiding behind strong per-transaction economics.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THE RETENTION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E74C3C"/>
                </a:solidFill>
                <a:latin typeface="Calibri"/>
              </a:rPr>
              <a:t>0.62%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31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A96B0"/>
                </a:solidFill>
                <a:latin typeface="Calibri"/>
              </a:rPr>
              <a:t>Repeat Customer 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097280"/>
            <a:ext cx="18288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0" y="123444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VS  INDUSTRY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600200"/>
            <a:ext cx="5760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2ECC71"/>
                </a:solidFill>
                <a:latin typeface="Calibri"/>
              </a:rPr>
              <a:t>30%+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78892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6B0"/>
                </a:solidFill>
                <a:latin typeface="Calibri"/>
              </a:rPr>
              <a:t>Industry Benchmark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71800"/>
            <a:ext cx="1124712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1089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WHAT THIS MEANS FOR OUR BUSINESS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66160"/>
            <a:ext cx="45720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62102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621024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CF4"/>
                </a:solidFill>
                <a:latin typeface="Calibri"/>
              </a:rPr>
              <a:t>For every 100 customers acquired, fewer than 1 ever returns for a second purchase.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87952"/>
            <a:ext cx="45720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24281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242816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CF4"/>
                </a:solidFill>
                <a:latin typeface="Calibri"/>
              </a:rPr>
              <a:t>We are running a high-performance acquisition machine that leaks value the moment a customer leaves.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09744"/>
            <a:ext cx="45720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86460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864608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CF4"/>
                </a:solidFill>
                <a:latin typeface="Calibri"/>
              </a:rPr>
              <a:t>Without retention, every revenue growth dollar requires a proportionally larger marketing spend.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431536"/>
            <a:ext cx="45720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48640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486400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CF4"/>
                </a:solidFill>
                <a:latin typeface="Calibri"/>
              </a:rPr>
              <a:t>Customer Acquisition Cost (CAC) becomes unsustainable at scale with near-zero retention.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Phase 2 Deep-Dive — Category &amp; Regional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PERFORMANCE BY PRODUCT CATEGORY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46304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184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70E27"/>
                </a:solidFill>
                <a:latin typeface="Calibri"/>
              </a:rPr>
              <a:t>Category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1572768"/>
            <a:ext cx="100584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61848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70E27"/>
                </a:solidFill>
                <a:latin typeface="Calibri"/>
              </a:rPr>
              <a:t>Revenue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572768"/>
            <a:ext cx="86868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61848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70E27"/>
                </a:solidFill>
                <a:latin typeface="Calibri"/>
              </a:rPr>
              <a:t>Profit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1572768"/>
            <a:ext cx="82296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16184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70E27"/>
                </a:solidFill>
                <a:latin typeface="Calibri"/>
              </a:rPr>
              <a:t>Margin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00600" y="1572768"/>
            <a:ext cx="86868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61848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70E27"/>
                </a:solidFill>
                <a:latin typeface="Calibri"/>
              </a:rPr>
              <a:t>AOV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938528"/>
            <a:ext cx="5212080" cy="438912"/>
          </a:xfrm>
          <a:prstGeom prst="rect">
            <a:avLst/>
          </a:prstGeom>
          <a:solidFill>
            <a:srgbClr val="15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1168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Office Supplies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01168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$2.09M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011680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$551K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201168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  <a:latin typeface="Calibri"/>
              </a:rPr>
              <a:t>26.40%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011680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$8,670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95728"/>
            <a:ext cx="5212080" cy="43891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46888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Furniture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246888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$2.04M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2468880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$541K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246888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  <a:latin typeface="Calibri"/>
              </a:rPr>
              <a:t>26.51%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2468880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$8,825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852928"/>
            <a:ext cx="5212080" cy="438912"/>
          </a:xfrm>
          <a:prstGeom prst="rect">
            <a:avLst/>
          </a:prstGeom>
          <a:solidFill>
            <a:srgbClr val="15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92608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Electronics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292608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$2.05M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2926080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$519K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292608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25.24%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2926080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$8,932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182112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A623"/>
                </a:solidFill>
                <a:latin typeface="Calibri"/>
              </a:rPr>
              <a:t>★  Office Supplies: highest margin + most order frequency = strongest retention catalyst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188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TOP 6 STATES BY REVENUE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1572768"/>
            <a:ext cx="164592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16184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70E27"/>
                </a:solidFill>
                <a:latin typeface="Calibri"/>
              </a:rPr>
              <a:t>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92440" y="1572768"/>
            <a:ext cx="109728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92440" y="16184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70E27"/>
                </a:solidFill>
                <a:latin typeface="Calibri"/>
              </a:rPr>
              <a:t>Revenue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35440" y="1572768"/>
            <a:ext cx="118872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35440" y="161848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70E27"/>
                </a:solidFill>
                <a:latin typeface="Calibri"/>
              </a:rPr>
              <a:t>Margin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1938528"/>
            <a:ext cx="4023360" cy="438912"/>
          </a:xfrm>
          <a:prstGeom prst="rect">
            <a:avLst/>
          </a:prstGeom>
          <a:solidFill>
            <a:srgbClr val="15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201168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New York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92440" y="201168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$1.13M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201168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  <a:latin typeface="Calibri"/>
              </a:rPr>
              <a:t>27.30%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2395728"/>
            <a:ext cx="4023360" cy="43891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246888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Florida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92440" y="246888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$1.09M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246888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A623"/>
                </a:solidFill>
                <a:latin typeface="Calibri"/>
              </a:rPr>
              <a:t>28.29% ★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2852928"/>
            <a:ext cx="4023360" cy="438912"/>
          </a:xfrm>
          <a:prstGeom prst="rect">
            <a:avLst/>
          </a:prstGeom>
          <a:solidFill>
            <a:srgbClr val="15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292608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California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92440" y="292608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$1.09M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292608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  <a:latin typeface="Calibri"/>
              </a:rPr>
              <a:t>25.66%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3310128"/>
            <a:ext cx="4023360" cy="43891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0" y="338328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Texas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92440" y="338328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$1.01M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35440" y="338328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  <a:latin typeface="Calibri"/>
              </a:rPr>
              <a:t>25.49%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0" y="3767328"/>
            <a:ext cx="4023360" cy="438912"/>
          </a:xfrm>
          <a:prstGeom prst="rect">
            <a:avLst/>
          </a:prstGeom>
          <a:solidFill>
            <a:srgbClr val="15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0" y="384048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Illinois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92440" y="384048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$0.98M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35440" y="384048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  <a:latin typeface="Calibri"/>
              </a:rPr>
              <a:t>24.56%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0" y="4224528"/>
            <a:ext cx="4023360" cy="43891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0" y="429768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Ohio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92440" y="429768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$0.88M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35440" y="429768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  <a:latin typeface="Calibri"/>
              </a:rPr>
              <a:t>24.47%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0" y="47548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ECF4"/>
                </a:solidFill>
                <a:latin typeface="Calibri"/>
              </a:rPr>
              <a:t>⚠  TOP 3 STATES (NY, FL, CA) = 52% of revenue
    High geographic concentration = single-market risk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Payment Mode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5895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623"/>
                </a:solidFill>
                <a:latin typeface="Calibri"/>
              </a:rPr>
              <a:t>Understanding how customers pay — and what it signals about buyer behaviour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01168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70E27"/>
                </a:solidFill>
                <a:latin typeface="Calibri"/>
              </a:rPr>
              <a:t>Payment Mode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1188720"/>
            <a:ext cx="164592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600" y="1234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70E27"/>
                </a:solidFill>
                <a:latin typeface="Calibri"/>
              </a:rPr>
              <a:t>Revenue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188720"/>
            <a:ext cx="109728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234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70E27"/>
                </a:solidFill>
                <a:latin typeface="Calibri"/>
              </a:rPr>
              <a:t>Orders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49240" y="1188720"/>
            <a:ext cx="146304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9240" y="12344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70E27"/>
                </a:solidFill>
                <a:latin typeface="Calibri"/>
              </a:rPr>
              <a:t>AOV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72768"/>
            <a:ext cx="6355080" cy="493776"/>
          </a:xfrm>
          <a:prstGeom prst="rect">
            <a:avLst/>
          </a:prstGeom>
          <a:solidFill>
            <a:srgbClr val="15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66420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Debit Card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166420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$1,395,035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166420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154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166420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A623"/>
                </a:solidFill>
                <a:latin typeface="Calibri"/>
              </a:rPr>
              <a:t>$9,058.67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1709928"/>
            <a:ext cx="4572000" cy="228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67160" y="166420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6B0"/>
                </a:solidFill>
                <a:latin typeface="Calibri"/>
              </a:rPr>
              <a:t>$9,058.67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103120"/>
            <a:ext cx="6355080" cy="49377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19456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Credit Card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219456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$1,281,044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219456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151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19456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$8,483.74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2240280"/>
            <a:ext cx="4206240" cy="228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201400" y="21945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6B0"/>
                </a:solidFill>
                <a:latin typeface="Calibri"/>
              </a:rPr>
              <a:t>$8,483.74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633472"/>
            <a:ext cx="6355080" cy="493776"/>
          </a:xfrm>
          <a:prstGeom prst="rect">
            <a:avLst/>
          </a:prstGeom>
          <a:solidFill>
            <a:srgbClr val="15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72491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UPI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272491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$1,250,473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272491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151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272491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$8,281.28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9440" y="2770632"/>
            <a:ext cx="4104640" cy="228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99800" y="272491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6B0"/>
                </a:solidFill>
                <a:latin typeface="Calibri"/>
              </a:rPr>
              <a:t>$8,281.28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163824"/>
            <a:ext cx="6355080" cy="49377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25526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COD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14600" y="325526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$1,141,790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325526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137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49240" y="3255264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$8,334.23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49440" y="3300984"/>
            <a:ext cx="3759200" cy="228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54360" y="325526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6B0"/>
                </a:solidFill>
                <a:latin typeface="Calibri"/>
              </a:rPr>
              <a:t>$8,334.23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694176"/>
            <a:ext cx="6355080" cy="493776"/>
          </a:xfrm>
          <a:prstGeom prst="rect">
            <a:avLst/>
          </a:prstGeom>
          <a:solidFill>
            <a:srgbClr val="15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378561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EMI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14600" y="378561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$1,114,297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0" y="37856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142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49240" y="378561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$7,847.16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49440" y="3831336"/>
            <a:ext cx="3657600" cy="228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652760" y="378561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6B0"/>
                </a:solidFill>
                <a:latin typeface="Calibri"/>
              </a:rPr>
              <a:t>$7,847.16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  <a:latin typeface="Calibri"/>
              </a:rPr>
              <a:t>AOV COMPARISON 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8006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CF4"/>
                </a:solidFill>
                <a:latin typeface="Calibri"/>
              </a:rPr>
              <a:t>▸  Debit Card leads in both revenue ($1.4M) and AOV ($9,058) — high-intent, high-spend buyers.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5212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CF4"/>
                </a:solidFill>
                <a:latin typeface="Calibri"/>
              </a:rPr>
              <a:t>▸  EMI customers have the lowest AOV ($7,847) — likely price-sensitive or purchasing smaller items on installment.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56235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CF4"/>
                </a:solidFill>
                <a:latin typeface="Calibri"/>
              </a:rPr>
              <a:t>▸  Payment mode correlates with purchase behavior: card users spend 15% more per order than EMI users.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0350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CF4"/>
                </a:solidFill>
                <a:latin typeface="Calibri"/>
              </a:rPr>
              <a:t>▸  Strategy: Offer card-specific incentives to shift buyers toward higher-AOV payment methods.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PHASE 3 — CUSTOMER SEGMENTATION (RFM ANALYSIS)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Who Are Our Customers — Really?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3657600" cy="5029200"/>
          </a:xfrm>
          <a:prstGeom prst="rect">
            <a:avLst/>
          </a:prstGeom>
          <a:solidFill>
            <a:srgbClr val="152A5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657600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CC71"/>
                </a:solidFill>
                <a:latin typeface="Calibri"/>
              </a:rPr>
              <a:t>CHAMPIONS
16% of 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CC71"/>
                </a:solidFill>
                <a:latin typeface="Calibri"/>
              </a:rPr>
              <a:t>VALUE: HIGH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633472"/>
            <a:ext cx="3383280" cy="274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CF4"/>
                </a:solidFill>
                <a:latin typeface="Calibri"/>
              </a:rPr>
              <a:t>Bought recently, buy often, spend the most.
Our power users — protect &amp; reward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1188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★  Strategy: Early access to new products,
    VIP rewards program, referral incentives.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3657600" cy="5029200"/>
          </a:xfrm>
          <a:prstGeom prst="rect">
            <a:avLst/>
          </a:prstGeom>
          <a:solidFill>
            <a:srgbClr val="152A5A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17320"/>
            <a:ext cx="365760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55448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A623"/>
                </a:solidFill>
                <a:latin typeface="Calibri"/>
              </a:rPr>
              <a:t>POTENTIAL LOYALISTS
35% of customers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2860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A623"/>
                </a:solidFill>
                <a:latin typeface="Calibri"/>
              </a:rPr>
              <a:t>VALUE: MEDIUM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633472"/>
            <a:ext cx="338328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69748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CF4"/>
                </a:solidFill>
                <a:latin typeface="Calibri"/>
              </a:rPr>
              <a:t>Moderate recency &amp; spend. Purchased a few
times but never converted to Champions.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61188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🎯  Strategy: '3rd Purchase Bonus' to push
    them over the loyalty threshold.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417320"/>
            <a:ext cx="3657600" cy="5029200"/>
          </a:xfrm>
          <a:prstGeom prst="rect">
            <a:avLst/>
          </a:prstGeom>
          <a:solidFill>
            <a:srgbClr val="152A5A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417320"/>
            <a:ext cx="365760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155448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74C3C"/>
                </a:solidFill>
                <a:latin typeface="Calibri"/>
              </a:rPr>
              <a:t>AT-RISK CUSTOMERS
Remaining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2860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74C3C"/>
                </a:solidFill>
                <a:latin typeface="Calibri"/>
              </a:rPr>
              <a:t>VALUE: 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66760" y="2633472"/>
            <a:ext cx="3383280" cy="274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269748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CF4"/>
                </a:solidFill>
                <a:latin typeface="Calibri"/>
              </a:rPr>
              <a:t>Previously engaged buyers now 6+ months
silent. Without action — they are lost.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61188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📧  Strategy: 'We Miss You' personalised
    discount re-engagement campaign.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5A623"/>
                </a:solidFill>
                <a:latin typeface="Calibri"/>
              </a:rPr>
              <a:t>⚠  KEY FINDING: The 35% 'Potential Loyalist' segment is our single biggest untapped revenue opportunity — they are already warm customers who just need the right nudge.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Valley of Churn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5895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623"/>
                </a:solidFill>
                <a:latin typeface="Calibri"/>
              </a:rPr>
              <a:t>Cohort retention analysis reveals a predictable, structural drop-off at Month 4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2476" y="1554480"/>
            <a:ext cx="1463040" cy="29260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22476" y="118872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CC71"/>
                </a:solidFill>
                <a:latin typeface="Calibri"/>
              </a:rP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2476" y="457200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6B0"/>
                </a:solidFill>
                <a:latin typeface="Calibri"/>
              </a:rPr>
              <a:t>Month 1
(Acquisition)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3442716" y="3953865"/>
            <a:ext cx="1463040" cy="52669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42716" y="3588105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A623"/>
                </a:solidFill>
                <a:latin typeface="Calibri"/>
              </a:rPr>
              <a:t>18%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2716" y="457200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6B0"/>
                </a:solidFill>
                <a:latin typeface="Calibri"/>
              </a:rPr>
              <a:t>Month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62956" y="4041648"/>
            <a:ext cx="1463040" cy="4389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62956" y="367588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A623"/>
                </a:solidFill>
                <a:latin typeface="Calibri"/>
              </a:rPr>
              <a:t>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2956" y="457200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6B0"/>
                </a:solidFill>
                <a:latin typeface="Calibri"/>
              </a:rPr>
              <a:t>Month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83196" y="4363516"/>
            <a:ext cx="1463040" cy="117043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83196" y="399775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74C3C"/>
                </a:solidFill>
                <a:latin typeface="Calibri"/>
              </a:rPr>
              <a:t>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3196" y="457200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6B0"/>
                </a:solidFill>
                <a:latin typeface="Calibri"/>
              </a:rPr>
              <a:t>Month 4
⚠ VALLEY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03436" y="4422038"/>
            <a:ext cx="1463040" cy="58521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03436" y="405627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0392B"/>
                </a:solidFill>
                <a:latin typeface="Calibri"/>
              </a:rPr>
              <a:t>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3436" y="457200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6B0"/>
                </a:solidFill>
                <a:latin typeface="Calibri"/>
              </a:rPr>
              <a:t>Month 5+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360" y="2560320"/>
            <a:ext cx="320040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23042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  <a:latin typeface="Calibri"/>
              </a:rPr>
              <a:t>▼  Churn Cliff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0749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KEY FINDINGS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4068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CF4"/>
                </a:solidFill>
                <a:latin typeface="Calibri"/>
              </a:rPr>
              <a:t>▸  Month 1 → 2: First 'loyalty test' — 80% of customers do not return after first purchase.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7150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CF4"/>
                </a:solidFill>
                <a:latin typeface="Calibri"/>
              </a:rPr>
              <a:t>▸  Month 2 → 3: Remaining cohort stabilises at ~15–20% — a committed early group.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98932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CF4"/>
                </a:solidFill>
                <a:latin typeface="Calibri"/>
              </a:rPr>
              <a:t>▸  Month 4 — 'The Valley': Recurring churn dip across ALL cohort years (2020–2024).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26364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CF4"/>
                </a:solidFill>
                <a:latin typeface="Calibri"/>
              </a:rPr>
              <a:t>▸  Month 4 is not random noise — it is a structural signal of a post-purchase experience gap.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CF4"/>
                </a:solidFill>
                <a:latin typeface="Calibri"/>
              </a:rPr>
              <a:t>▸  Recommendation: Intercept customers at Day 30, 60, and 85 with targeted re-engagement.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CALL TO ACTION — THE THREE-PILLAR RETENTION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6B0"/>
                </a:solidFill>
                <a:latin typeface="Calibri"/>
              </a:rPr>
              <a:t>Every recommendation is grounded directly in the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94360" cy="1554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70E27"/>
                </a:solidFill>
                <a:latin typeface="Calibr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234440"/>
            <a:ext cx="10607040" cy="1554480"/>
          </a:xfrm>
          <a:prstGeom prst="rect">
            <a:avLst/>
          </a:prstGeom>
          <a:solidFill>
            <a:srgbClr val="15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32588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  <a:latin typeface="Calibri"/>
              </a:rPr>
              <a:t>THE LOYALTY BRIDGE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3441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E74C3C"/>
                </a:solidFill>
                <a:latin typeface="Calibri"/>
              </a:rPr>
              <a:t>URGENCY: 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737360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CF4"/>
                </a:solidFill>
                <a:latin typeface="Calibri"/>
              </a:rPr>
              <a:t>▸  Data basis: 0.62% repeat rate; steepest funnel drop at 1st → 2nd purchase; Month 4 churn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057400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CF4"/>
                </a:solidFill>
                <a:latin typeface="Calibri"/>
              </a:rPr>
              <a:t>▸  Launch '3rd Purchase Bonus': reward customers who complete transaction #3 within 90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40487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74C3C"/>
                </a:solidFill>
                <a:latin typeface="Calibri"/>
              </a:rPr>
              <a:t>🎯  Target KPI: Repeat Customer Rate 0.62% → 8–12% within 12 months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71800"/>
            <a:ext cx="594360" cy="1554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47472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70E27"/>
                </a:solidFill>
                <a:latin typeface="Calibri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2971800"/>
            <a:ext cx="10607040" cy="1554480"/>
          </a:xfrm>
          <a:prstGeom prst="rect">
            <a:avLst/>
          </a:prstGeom>
          <a:solidFill>
            <a:srgbClr val="15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06324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  <a:latin typeface="Calibri"/>
              </a:rPr>
              <a:t>OFFICE SUPPLIES AS SUBSCRIPTION HOOK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081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5A623"/>
                </a:solidFill>
                <a:latin typeface="Calibri"/>
              </a:rPr>
              <a:t>URGENCY: MEDIUM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474720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CF4"/>
                </a:solidFill>
                <a:latin typeface="Calibri"/>
              </a:rPr>
              <a:t>▸  Data basis: Office Supplies — highest margin (26.4%), most orders (241), best repeat frequency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794760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CF4"/>
                </a:solidFill>
                <a:latin typeface="Calibri"/>
              </a:rPr>
              <a:t>▸  Introduce monthly/quarterly auto-replenishment with a 5–10% loyalty discount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14223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  <a:latin typeface="Calibri"/>
              </a:rPr>
              <a:t>🎯  Target KPI: 15% of Office Supplies customers on subscription within 6 months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09160"/>
            <a:ext cx="594360" cy="1554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21208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70E27"/>
                </a:solidFill>
                <a:latin typeface="Calibri"/>
              </a:rPr>
              <a:t>03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4709160"/>
            <a:ext cx="10607040" cy="1554480"/>
          </a:xfrm>
          <a:prstGeom prst="rect">
            <a:avLst/>
          </a:prstGeom>
          <a:solidFill>
            <a:srgbClr val="15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480060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  <a:latin typeface="Calibri"/>
              </a:rPr>
              <a:t>GEOGRAPHIC FOCUS &amp; DIVERSIFICATION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8188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39C12"/>
                </a:solidFill>
                <a:latin typeface="Calibri"/>
              </a:rPr>
              <a:t>URGENCY: MEDIUM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212080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CF4"/>
                </a:solidFill>
                <a:latin typeface="Calibri"/>
              </a:rPr>
              <a:t>▸  Data basis: NY + FL + CA = 52% of revenue — high single-market concentration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532120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CF4"/>
                </a:solidFill>
                <a:latin typeface="Calibri"/>
              </a:rPr>
              <a:t>▸  Double down on Florida (highest margin at 28.29%) for premium product line campaigns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87959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C12"/>
                </a:solidFill>
                <a:latin typeface="Calibri"/>
              </a:rPr>
              <a:t>🎯  Target KPI: Reduce top-3 state concentration from 52% → 45% over 18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17317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THE 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We have a financially healthy business
with a structurally broken retention engine.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31720"/>
            <a:ext cx="731520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514600"/>
            <a:ext cx="73152" cy="38404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55117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  <a:latin typeface="Calibri"/>
              </a:rPr>
              <a:t>$6.18M Revenue, 26% Margin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551176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6B0"/>
                </a:solidFill>
                <a:latin typeface="Calibri"/>
              </a:rPr>
              <a:t>Operational excellence confirmed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044952"/>
            <a:ext cx="73152" cy="38404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81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  <a:latin typeface="Calibri"/>
              </a:rPr>
              <a:t>$11,302 AOV, 23 UPT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08152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6B0"/>
                </a:solidFill>
                <a:latin typeface="Calibri"/>
              </a:rPr>
              <a:t>Strong per-transaction performance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575304"/>
            <a:ext cx="73152" cy="38404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11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  <a:latin typeface="Calibri"/>
              </a:rPr>
              <a:t>0.62% Repeat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6118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6B0"/>
                </a:solidFill>
                <a:latin typeface="Calibri"/>
              </a:rPr>
              <a:t>Critical retention failure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105656"/>
            <a:ext cx="73152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1422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35% 'Potential Loyalists'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14223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6B0"/>
                </a:solidFill>
                <a:latin typeface="Calibri"/>
              </a:rPr>
              <a:t>The biggest untapped revenue lever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636008"/>
            <a:ext cx="73152" cy="38404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67258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  <a:latin typeface="Calibri"/>
              </a:rPr>
              <a:t>Month 4 Churn Cliff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672584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6B0"/>
                </a:solidFill>
                <a:latin typeface="Calibri"/>
              </a:rPr>
              <a:t>Structural mid-lifecycle gap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03920" y="2331720"/>
            <a:ext cx="3383280" cy="3017520"/>
          </a:xfrm>
          <a:prstGeom prst="rect">
            <a:avLst/>
          </a:prstGeom>
          <a:solidFill>
            <a:srgbClr val="152A5A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24231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  <a:latin typeface="Calibri"/>
              </a:rPr>
              <a:t>THE #1 METRIC
TO WATCH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01752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Repeat
Customer
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3434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A96B0"/>
                </a:solidFill>
                <a:latin typeface="Calibri"/>
              </a:rPr>
              <a:t>Revenue can be inflated.
Repeat rate cannot be faked.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9436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  <a:latin typeface="Calibri"/>
              </a:rPr>
              <a:t>Projected Impact:  10–15% lift in Customer Lifetime Value (CLV) if all three pillars are executed.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6B0"/>
                </a:solidFill>
                <a:latin typeface="Calibri"/>
              </a:rPr>
              <a:t>Data Analytics Team  |  March 2026  |  Based on 1,194 transactions, 802 customers, 2020–2025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